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1 harmonizes all layers onto 2,808 H3 resolution-8 cells and applies hard exclusions (conservation units, indigenous lands, surface water, outside state). Phase 2 derives the degradation probability from quarterly Sentinel-2 and Sentinel-1 composites. Phase 3 is a deterministic policy classifier built from the 36-document corpus; boundaries are reused for the 2.5 km human-review buffer. Phase 4 applies the operator constraints (HV bus within 25 km, line within 15 km, interconnection facility within 50 km) and sorts survivors on a six-objective Pareto frontier: 966 feasible, 505 on the frontier, 25 recommended (after the September 2026 zero-distance fix; the pre-fix run gave 819 / 448 / 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phases, nine datasets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8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Compute Nexus · Ceará case study · every layer joins one H3 grid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2587752"/>
            <a:ext cx="2567178" cy="457200"/>
          </a:xfrm>
          <a:prstGeom prst="roundRect">
            <a:avLst>
              <a:gd name="adj" fmla="val 16000"/>
            </a:avLst>
          </a:prstGeom>
          <a:solidFill>
            <a:srgbClr val="ECE9F8"/>
          </a:solidFill>
          <a:ln w="12700">
            <a:solidFill>
              <a:srgbClr val="C9C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2587752"/>
            <a:ext cx="23477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11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</a:t>
            </a:r>
            <a:endParaRPr lang="en-US" sz="1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C78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 · MMA · FUNAI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3154680"/>
            <a:ext cx="2567178" cy="457200"/>
          </a:xfrm>
          <a:prstGeom prst="roundRect">
            <a:avLst>
              <a:gd name="adj" fmla="val 16000"/>
            </a:avLst>
          </a:prstGeom>
          <a:solidFill>
            <a:srgbClr val="ECE9F8"/>
          </a:solidFill>
          <a:ln w="12700">
            <a:solidFill>
              <a:srgbClr val="C9C2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3154680"/>
            <a:ext cx="23477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11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cover + water</a:t>
            </a:r>
            <a:endParaRPr lang="en-US" sz="1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C78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MapBiomas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832229" y="3648456"/>
            <a:ext cx="0" cy="237744"/>
          </a:xfrm>
          <a:prstGeom prst="line">
            <a:avLst/>
          </a:prstGeom>
          <a:noFill/>
          <a:ln w="19050">
            <a:solidFill>
              <a:srgbClr val="C9C2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10800000">
            <a:off x="1749933" y="3858768"/>
            <a:ext cx="164592" cy="118872"/>
          </a:xfrm>
          <a:prstGeom prst="triangle">
            <a:avLst/>
          </a:prstGeom>
          <a:solidFill>
            <a:srgbClr val="C9C2EA"/>
          </a:solidFill>
          <a:ln w="12700">
            <a:solidFill>
              <a:srgbClr val="C9C2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4023360"/>
            <a:ext cx="2567178" cy="1005840"/>
          </a:xfrm>
          <a:prstGeom prst="roundRect">
            <a:avLst>
              <a:gd name="adj" fmla="val 9091"/>
            </a:avLst>
          </a:prstGeom>
          <a:solidFill>
            <a:srgbClr val="4A3AA7"/>
          </a:solidFill>
          <a:ln w="12700">
            <a:solidFill>
              <a:srgbClr val="4A3AA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4133088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133088"/>
            <a:ext cx="165277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Harmonize + exclude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 rot="5400000">
            <a:off x="3179826" y="4443984"/>
            <a:ext cx="146304" cy="164592"/>
          </a:xfrm>
          <a:prstGeom prst="triangle">
            <a:avLst/>
          </a:prstGeom>
          <a:solidFill>
            <a:srgbClr val="4A3AA7"/>
          </a:solidFill>
          <a:ln w="12700">
            <a:solidFill>
              <a:srgbClr val="4A3AA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358384"/>
            <a:ext cx="2567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2,808 cells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390138" y="2587752"/>
            <a:ext cx="2567178" cy="457200"/>
          </a:xfrm>
          <a:prstGeom prst="roundRect">
            <a:avLst>
              <a:gd name="adj" fmla="val 16000"/>
            </a:avLst>
          </a:prstGeom>
          <a:solidFill>
            <a:srgbClr val="ECE9F8"/>
          </a:solidFill>
          <a:ln w="12700">
            <a:solidFill>
              <a:srgbClr val="C9C2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99866" y="2587752"/>
            <a:ext cx="23477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11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Sentinel-2 optical</a:t>
            </a:r>
            <a:endParaRPr lang="en-US" sz="1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C78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Copernicus · GEE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390138" y="3154680"/>
            <a:ext cx="2567178" cy="457200"/>
          </a:xfrm>
          <a:prstGeom prst="roundRect">
            <a:avLst>
              <a:gd name="adj" fmla="val 16000"/>
            </a:avLst>
          </a:prstGeom>
          <a:solidFill>
            <a:srgbClr val="ECE9F8"/>
          </a:solidFill>
          <a:ln w="12700">
            <a:solidFill>
              <a:srgbClr val="C9C2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99866" y="3154680"/>
            <a:ext cx="23477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11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Sentinel-1 radar</a:t>
            </a:r>
            <a:endParaRPr lang="en-US" sz="1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C78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Copernicus · GEE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73727" y="3648456"/>
            <a:ext cx="0" cy="237744"/>
          </a:xfrm>
          <a:prstGeom prst="line">
            <a:avLst/>
          </a:prstGeom>
          <a:noFill/>
          <a:ln w="19050">
            <a:solidFill>
              <a:srgbClr val="C9C2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0800000">
            <a:off x="4591431" y="3858768"/>
            <a:ext cx="164592" cy="118872"/>
          </a:xfrm>
          <a:prstGeom prst="triangle">
            <a:avLst/>
          </a:prstGeom>
          <a:solidFill>
            <a:srgbClr val="C9C2EA"/>
          </a:solidFill>
          <a:ln w="12700">
            <a:solidFill>
              <a:srgbClr val="C9C2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90138" y="4023360"/>
            <a:ext cx="2567178" cy="1005840"/>
          </a:xfrm>
          <a:prstGeom prst="roundRect">
            <a:avLst>
              <a:gd name="adj" fmla="val 9091"/>
            </a:avLst>
          </a:prstGeom>
          <a:solidFill>
            <a:srgbClr val="4A3AA7"/>
          </a:solidFill>
          <a:ln w="12700">
            <a:solidFill>
              <a:srgbClr val="4A3AA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54730" y="4133088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23" name="Text 21"/>
          <p:cNvSpPr txBox="1"/>
          <p:nvPr/>
        </p:nvSpPr>
        <p:spPr>
          <a:xfrm>
            <a:off x="4213098" y="4133088"/>
            <a:ext cx="165277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Degradation risk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 rot="5400000">
            <a:off x="6021324" y="4443984"/>
            <a:ext cx="146304" cy="164592"/>
          </a:xfrm>
          <a:prstGeom prst="triangle">
            <a:avLst/>
          </a:prstGeom>
          <a:solidFill>
            <a:srgbClr val="4A3AA7"/>
          </a:solidFill>
          <a:ln w="12700">
            <a:solidFill>
              <a:srgbClr val="4A3AA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90138" y="5358384"/>
            <a:ext cx="2567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pPr indent="0" marL="0">
              <a:buNone/>
            </a:pPr>
            <a:r>
              <a:rPr lang="en-US" sz="1200" b="1" baseline="-4000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</a:t>
            </a:r>
            <a:pPr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cell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31636" y="2587752"/>
            <a:ext cx="2567178" cy="457200"/>
          </a:xfrm>
          <a:prstGeom prst="roundRect">
            <a:avLst>
              <a:gd name="adj" fmla="val 16000"/>
            </a:avLst>
          </a:prstGeom>
          <a:solidFill>
            <a:srgbClr val="ECE9F8"/>
          </a:solidFill>
          <a:ln w="12700">
            <a:solidFill>
              <a:srgbClr val="C9C2E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41364" y="2587752"/>
            <a:ext cx="23477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11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corpus, 36 docs</a:t>
            </a:r>
            <a:endParaRPr lang="en-US" sz="1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C78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Planalto · MME · MMA · law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31636" y="3154680"/>
            <a:ext cx="256717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9C2EA"/>
            </a:solidFill>
            <a:prstDash val="dash"/>
          </a:ln>
        </p:spPr>
      </p:sp>
      <p:sp>
        <p:nvSpPr>
          <p:cNvPr id="29" name="Text 27"/>
          <p:cNvSpPr txBox="1"/>
          <p:nvPr/>
        </p:nvSpPr>
        <p:spPr>
          <a:xfrm>
            <a:off x="6341364" y="3154680"/>
            <a:ext cx="23477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6C78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</a:t>
            </a:r>
            <a:endParaRPr lang="en-US" sz="1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C78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km review buffer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515225" y="3648456"/>
            <a:ext cx="0" cy="237744"/>
          </a:xfrm>
          <a:prstGeom prst="line">
            <a:avLst/>
          </a:prstGeom>
          <a:noFill/>
          <a:ln w="19050">
            <a:solidFill>
              <a:srgbClr val="C9C2E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7432929" y="3858768"/>
            <a:ext cx="164592" cy="118872"/>
          </a:xfrm>
          <a:prstGeom prst="triangle">
            <a:avLst/>
          </a:prstGeom>
          <a:solidFill>
            <a:srgbClr val="C9C2EA"/>
          </a:solidFill>
          <a:ln w="12700">
            <a:solidFill>
              <a:srgbClr val="C9C2E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31636" y="4023360"/>
            <a:ext cx="2567178" cy="1005840"/>
          </a:xfrm>
          <a:prstGeom prst="roundRect">
            <a:avLst>
              <a:gd name="adj" fmla="val 9091"/>
            </a:avLst>
          </a:prstGeom>
          <a:solidFill>
            <a:srgbClr val="4A3AA7"/>
          </a:solidFill>
          <a:ln w="12700">
            <a:solidFill>
              <a:srgbClr val="4A3AA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96228" y="4133088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34" name="Text 32"/>
          <p:cNvSpPr txBox="1"/>
          <p:nvPr/>
        </p:nvSpPr>
        <p:spPr>
          <a:xfrm>
            <a:off x="7054596" y="4133088"/>
            <a:ext cx="165277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classifier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 rot="5400000">
            <a:off x="8862822" y="4443984"/>
            <a:ext cx="146304" cy="164592"/>
          </a:xfrm>
          <a:prstGeom prst="triangle">
            <a:avLst/>
          </a:prstGeom>
          <a:solidFill>
            <a:srgbClr val="4A3AA7"/>
          </a:solidFill>
          <a:ln w="12700">
            <a:solidFill>
              <a:srgbClr val="4A3AA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31636" y="5358384"/>
            <a:ext cx="2567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· Medium · Critical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073134" y="1453896"/>
            <a:ext cx="2567178" cy="457200"/>
          </a:xfrm>
          <a:prstGeom prst="roundRect">
            <a:avLst>
              <a:gd name="adj" fmla="val 16000"/>
            </a:avLst>
          </a:prstGeom>
          <a:solidFill>
            <a:srgbClr val="ECE9F8"/>
          </a:solidFill>
          <a:ln w="12700">
            <a:solidFill>
              <a:srgbClr val="C9C2E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82862" y="1453896"/>
            <a:ext cx="23477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11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topology</a:t>
            </a:r>
            <a:endParaRPr lang="en-US" sz="1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C78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9073134" y="2020824"/>
            <a:ext cx="2567178" cy="457200"/>
          </a:xfrm>
          <a:prstGeom prst="roundRect">
            <a:avLst>
              <a:gd name="adj" fmla="val 16000"/>
            </a:avLst>
          </a:prstGeom>
          <a:solidFill>
            <a:srgbClr val="ECE9F8"/>
          </a:solidFill>
          <a:ln w="12700">
            <a:solidFill>
              <a:srgbClr val="C9C2E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182862" y="2020824"/>
            <a:ext cx="23477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11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Curtailment</a:t>
            </a:r>
            <a:endParaRPr lang="en-US" sz="1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C78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073134" y="2587752"/>
            <a:ext cx="2567178" cy="457200"/>
          </a:xfrm>
          <a:prstGeom prst="roundRect">
            <a:avLst>
              <a:gd name="adj" fmla="val 16000"/>
            </a:avLst>
          </a:prstGeom>
          <a:solidFill>
            <a:srgbClr val="ECE9F8"/>
          </a:solidFill>
          <a:ln w="12700">
            <a:solidFill>
              <a:srgbClr val="C9C2E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182862" y="2587752"/>
            <a:ext cx="23477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11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Fiber anchors</a:t>
            </a:r>
            <a:endParaRPr lang="en-US" sz="1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C78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PeeringDB · OSM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9073134" y="3154680"/>
            <a:ext cx="2567178" cy="457200"/>
          </a:xfrm>
          <a:prstGeom prst="roundRect">
            <a:avLst>
              <a:gd name="adj" fmla="val 16000"/>
            </a:avLst>
          </a:prstGeom>
          <a:solidFill>
            <a:srgbClr val="ECE9F8"/>
          </a:solidFill>
          <a:ln w="12700">
            <a:solidFill>
              <a:srgbClr val="C9C2E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182862" y="3154680"/>
            <a:ext cx="23477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11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inventory</a:t>
            </a:r>
            <a:endParaRPr lang="en-US" sz="1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C78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0356723" y="3648456"/>
            <a:ext cx="0" cy="237744"/>
          </a:xfrm>
          <a:prstGeom prst="line">
            <a:avLst/>
          </a:prstGeom>
          <a:noFill/>
          <a:ln w="19050">
            <a:solidFill>
              <a:srgbClr val="C9C2E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rot="10800000">
            <a:off x="10274427" y="3858768"/>
            <a:ext cx="164592" cy="118872"/>
          </a:xfrm>
          <a:prstGeom prst="triangle">
            <a:avLst/>
          </a:prstGeom>
          <a:solidFill>
            <a:srgbClr val="C9C2EA"/>
          </a:solidFill>
          <a:ln w="12700">
            <a:solidFill>
              <a:srgbClr val="C9C2E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073134" y="4023360"/>
            <a:ext cx="2567178" cy="1005840"/>
          </a:xfrm>
          <a:prstGeom prst="roundRect">
            <a:avLst>
              <a:gd name="adj" fmla="val 9091"/>
            </a:avLst>
          </a:prstGeom>
          <a:solidFill>
            <a:srgbClr val="4A3AA7"/>
          </a:solidFill>
          <a:ln w="12700">
            <a:solidFill>
              <a:srgbClr val="4A3AA7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237726" y="4133088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49" name="Text 47"/>
          <p:cNvSpPr txBox="1"/>
          <p:nvPr/>
        </p:nvSpPr>
        <p:spPr>
          <a:xfrm>
            <a:off x="9896094" y="4133088"/>
            <a:ext cx="165277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 + rank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9073134" y="5358384"/>
            <a:ext cx="2567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966 → 505 → 25 sites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548640" y="14173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C78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548640" y="37490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C78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548640" y="51206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C78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8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inventory (110 sites) and the 27-state screen appear on the maps only. Explorer: giasmith.github.io/brazil-dc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2026-09-17T21:21:05Z</dcterms:created>
  <dcterms:modified xsi:type="dcterms:W3CDTF">2026-09-17T21:21:05Z</dcterms:modified>
</cp:coreProperties>
</file>